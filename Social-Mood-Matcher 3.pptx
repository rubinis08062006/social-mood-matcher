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DM Sans Semi Bold"/>
      <p:regular r:id="rId17"/>
    </p:embeddedFont>
    <p:embeddedFont>
      <p:font typeface="DM Sans Semi Bold"/>
      <p:regular r:id="rId18"/>
    </p:embeddedFont>
    <p:embeddedFont>
      <p:font typeface="DM Sans Semi Bold"/>
      <p:regular r:id="rId19"/>
    </p:embeddedFont>
    <p:embeddedFont>
      <p:font typeface="DM Sans Semi Bold"/>
      <p:regular r:id="rId20"/>
    </p:embeddedFont>
    <p:embeddedFont>
      <p:font typeface="Inter Medium"/>
      <p:regular r:id="rId21"/>
    </p:embeddedFont>
    <p:embeddedFont>
      <p:font typeface="Inter Medium"/>
      <p:regular r:id="rId22"/>
    </p:embeddedFont>
    <p:embeddedFont>
      <p:font typeface="Inter Medium"/>
      <p:regular r:id="rId23"/>
    </p:embeddedFont>
    <p:embeddedFont>
      <p:font typeface="Inter Medium"/>
      <p:regular r:id="rId24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Relationship Id="rId23" Type="http://schemas.openxmlformats.org/officeDocument/2006/relationships/font" Target="fonts/font7.fntdata"/><Relationship Id="rId24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image" Target="../media/image-2-7.png"/><Relationship Id="rId8" Type="http://schemas.openxmlformats.org/officeDocument/2006/relationships/image" Target="../media/image-2-8.sv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image" Target="../media/image-4-8.svg"/><Relationship Id="rId9" Type="http://schemas.openxmlformats.org/officeDocument/2006/relationships/slideLayout" Target="../slideLayouts/slideLayout5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6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image" Target="../media/image-8-5.png"/><Relationship Id="rId6" Type="http://schemas.openxmlformats.org/officeDocument/2006/relationships/image" Target="../media/image-8-6.svg"/><Relationship Id="rId7" Type="http://schemas.openxmlformats.org/officeDocument/2006/relationships/slideLayout" Target="../slideLayouts/slideLayout9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3408878"/>
            <a:ext cx="575143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Social Mood Matcher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457819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AI-Powered Social Media Caption &amp; Hashtag Generator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5486400" cy="8229600"/>
          </a:xfrm>
          <a:prstGeom prst="rect">
            <a:avLst/>
          </a:prstGeom>
          <a:solidFill>
            <a:srgbClr val="DFDFE0"/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280190" y="899755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The Challenge</a:t>
            </a:r>
            <a:endParaRPr lang="en-US" sz="4450" dirty="0"/>
          </a:p>
        </p:txBody>
      </p:sp>
      <p:sp>
        <p:nvSpPr>
          <p:cNvPr id="6" name="Shape 2"/>
          <p:cNvSpPr/>
          <p:nvPr/>
        </p:nvSpPr>
        <p:spPr>
          <a:xfrm>
            <a:off x="6280190" y="1948696"/>
            <a:ext cx="3664744" cy="2940010"/>
          </a:xfrm>
          <a:prstGeom prst="roundRect">
            <a:avLst>
              <a:gd name="adj" fmla="val 1157"/>
            </a:avLst>
          </a:prstGeom>
          <a:solidFill>
            <a:srgbClr val="F2EEEE"/>
          </a:solidFill>
          <a:ln/>
        </p:spPr>
      </p:sp>
      <p:sp>
        <p:nvSpPr>
          <p:cNvPr id="7" name="Shape 3"/>
          <p:cNvSpPr/>
          <p:nvPr/>
        </p:nvSpPr>
        <p:spPr>
          <a:xfrm>
            <a:off x="6507004" y="2175510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1C9770"/>
          </a:solidFill>
          <a:ln/>
        </p:spPr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94170" y="2362557"/>
            <a:ext cx="306110" cy="30611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507004" y="308276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Time-Consuming</a:t>
            </a:r>
            <a:endParaRPr lang="en-US" sz="2200" dirty="0"/>
          </a:p>
        </p:txBody>
      </p:sp>
      <p:sp>
        <p:nvSpPr>
          <p:cNvPr id="10" name="Text 5"/>
          <p:cNvSpPr/>
          <p:nvPr/>
        </p:nvSpPr>
        <p:spPr>
          <a:xfrm>
            <a:off x="6507004" y="3573185"/>
            <a:ext cx="321111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Content creators spend hours crafting captions and researching hashtags</a:t>
            </a:r>
            <a:endParaRPr lang="en-US" sz="1750" dirty="0"/>
          </a:p>
        </p:txBody>
      </p:sp>
      <p:sp>
        <p:nvSpPr>
          <p:cNvPr id="11" name="Shape 6"/>
          <p:cNvSpPr/>
          <p:nvPr/>
        </p:nvSpPr>
        <p:spPr>
          <a:xfrm>
            <a:off x="10171748" y="1948696"/>
            <a:ext cx="3664863" cy="2940010"/>
          </a:xfrm>
          <a:prstGeom prst="roundRect">
            <a:avLst>
              <a:gd name="adj" fmla="val 1157"/>
            </a:avLst>
          </a:prstGeom>
          <a:solidFill>
            <a:srgbClr val="F2EEEE"/>
          </a:solidFill>
          <a:ln/>
        </p:spPr>
      </p:sp>
      <p:sp>
        <p:nvSpPr>
          <p:cNvPr id="12" name="Shape 7"/>
          <p:cNvSpPr/>
          <p:nvPr/>
        </p:nvSpPr>
        <p:spPr>
          <a:xfrm>
            <a:off x="10398562" y="2175510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1C9770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585728" y="2362557"/>
            <a:ext cx="306110" cy="30611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0398562" y="308276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Platform Complexity</a:t>
            </a:r>
            <a:endParaRPr lang="en-US" sz="2200" dirty="0"/>
          </a:p>
        </p:txBody>
      </p:sp>
      <p:sp>
        <p:nvSpPr>
          <p:cNvPr id="15" name="Text 9"/>
          <p:cNvSpPr/>
          <p:nvPr/>
        </p:nvSpPr>
        <p:spPr>
          <a:xfrm>
            <a:off x="10398562" y="3573185"/>
            <a:ext cx="321123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Different character limits across Twitter, Instagram, and Facebook</a:t>
            </a:r>
            <a:endParaRPr lang="en-US" sz="1750" dirty="0"/>
          </a:p>
        </p:txBody>
      </p:sp>
      <p:sp>
        <p:nvSpPr>
          <p:cNvPr id="16" name="Shape 10"/>
          <p:cNvSpPr/>
          <p:nvPr/>
        </p:nvSpPr>
        <p:spPr>
          <a:xfrm>
            <a:off x="6280190" y="5115520"/>
            <a:ext cx="7556421" cy="2214205"/>
          </a:xfrm>
          <a:prstGeom prst="roundRect">
            <a:avLst>
              <a:gd name="adj" fmla="val 1537"/>
            </a:avLst>
          </a:prstGeom>
          <a:solidFill>
            <a:srgbClr val="F2EEEE"/>
          </a:solidFill>
          <a:ln/>
        </p:spPr>
      </p:sp>
      <p:sp>
        <p:nvSpPr>
          <p:cNvPr id="17" name="Shape 11"/>
          <p:cNvSpPr/>
          <p:nvPr/>
        </p:nvSpPr>
        <p:spPr>
          <a:xfrm>
            <a:off x="6507004" y="5342334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1C9770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94170" y="5529382"/>
            <a:ext cx="306110" cy="30611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6507004" y="624959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Engagement Gap</a:t>
            </a:r>
            <a:endParaRPr lang="en-US" sz="2200" dirty="0"/>
          </a:p>
        </p:txBody>
      </p:sp>
      <p:sp>
        <p:nvSpPr>
          <p:cNvPr id="20" name="Text 13"/>
          <p:cNvSpPr/>
          <p:nvPr/>
        </p:nvSpPr>
        <p:spPr>
          <a:xfrm>
            <a:off x="6507004" y="6740009"/>
            <a:ext cx="710279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Difficulty matching content mood with trending hashtags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23342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Intelligent Solution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789515"/>
            <a:ext cx="284702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AI-Powered Platform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3370659"/>
            <a:ext cx="4205168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Social Mood Matcher uses GenAI to deliver personalized, sentiment-aware captions and trending hashtags optimized for different platforms.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5026343"/>
            <a:ext cx="4205168" cy="1610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BLIP for image captioning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DistilBERT for sentiment analysis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Gemini 2.5 Flash for enhanced quality</a:t>
            </a:r>
            <a:endParaRPr lang="en-US" sz="17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59981" y="2327434"/>
            <a:ext cx="8284131" cy="462367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21487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Core Features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93790" y="2583894"/>
            <a:ext cx="566976" cy="5669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343435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Image Analysis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3924776"/>
            <a:ext cx="637960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Detects visual content and mood using BLIP and DistilBERT</a:t>
            </a:r>
            <a:endParaRPr lang="en-US" sz="17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56884" y="2583894"/>
            <a:ext cx="566976" cy="56697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456884" y="343435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Caption Styles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7456884" y="3924776"/>
            <a:ext cx="637972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Generate casual, aesthetic, professional, or playful captions</a:t>
            </a:r>
            <a:endParaRPr lang="en-US" sz="17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93790" y="5104209"/>
            <a:ext cx="566976" cy="56697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93790" y="595467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Trending Hashtags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793790" y="6445091"/>
            <a:ext cx="637960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Curated 2024 hashtags by category and sentiment</a:t>
            </a:r>
            <a:endParaRPr lang="en-US" sz="17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456884" y="5104209"/>
            <a:ext cx="566976" cy="56697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456884" y="595467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Multi-Platform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7456884" y="6445091"/>
            <a:ext cx="637972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Auto-formatted for Twitter, Instagram, and Facebook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06847" y="944404"/>
            <a:ext cx="7059573" cy="6432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050"/>
              </a:lnSpc>
              <a:buNone/>
            </a:pPr>
            <a:r>
              <a:rPr lang="en-US" sz="40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Use Case: Food Photography</a:t>
            </a:r>
            <a:endParaRPr lang="en-US" sz="40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6847" y="1867853"/>
            <a:ext cx="1029295" cy="123515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422952" y="2073712"/>
            <a:ext cx="2573179" cy="321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Upload Image</a:t>
            </a:r>
            <a:endParaRPr lang="en-US" sz="2000" dirty="0"/>
          </a:p>
        </p:txBody>
      </p:sp>
      <p:sp>
        <p:nvSpPr>
          <p:cNvPr id="6" name="Text 2"/>
          <p:cNvSpPr/>
          <p:nvPr/>
        </p:nvSpPr>
        <p:spPr>
          <a:xfrm>
            <a:off x="7422952" y="2507337"/>
            <a:ext cx="6487001" cy="3140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6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Cozy soup photo detected</a:t>
            </a:r>
            <a:endParaRPr lang="en-US" sz="16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6847" y="3103007"/>
            <a:ext cx="1029295" cy="1235154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422952" y="3308866"/>
            <a:ext cx="2573179" cy="321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AI Analysis</a:t>
            </a:r>
            <a:endParaRPr lang="en-US" sz="2000" dirty="0"/>
          </a:p>
        </p:txBody>
      </p:sp>
      <p:sp>
        <p:nvSpPr>
          <p:cNvPr id="9" name="Text 4"/>
          <p:cNvSpPr/>
          <p:nvPr/>
        </p:nvSpPr>
        <p:spPr>
          <a:xfrm>
            <a:off x="7422952" y="3742492"/>
            <a:ext cx="6487001" cy="3140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6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BLIP + DistilBERT detect "cozy" and "warm" sentiment</a:t>
            </a:r>
            <a:endParaRPr lang="en-US" sz="16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6847" y="4338161"/>
            <a:ext cx="1029295" cy="147351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422952" y="4544020"/>
            <a:ext cx="2573179" cy="321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Generate Content</a:t>
            </a:r>
            <a:endParaRPr lang="en-US" sz="2000" dirty="0"/>
          </a:p>
        </p:txBody>
      </p:sp>
      <p:sp>
        <p:nvSpPr>
          <p:cNvPr id="12" name="Text 6"/>
          <p:cNvSpPr/>
          <p:nvPr/>
        </p:nvSpPr>
        <p:spPr>
          <a:xfrm>
            <a:off x="7422952" y="4977646"/>
            <a:ext cx="6487001" cy="6281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6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Casual caption: "Nothing beats a warm bowl of homemade soup on a chilly evening"</a:t>
            </a:r>
            <a:endParaRPr lang="en-US" sz="16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06847" y="5811679"/>
            <a:ext cx="1029295" cy="1473518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7422952" y="6017538"/>
            <a:ext cx="2573179" cy="321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Platform Ready</a:t>
            </a:r>
            <a:endParaRPr lang="en-US" sz="2000" dirty="0"/>
          </a:p>
        </p:txBody>
      </p:sp>
      <p:sp>
        <p:nvSpPr>
          <p:cNvPr id="15" name="Text 8"/>
          <p:cNvSpPr/>
          <p:nvPr/>
        </p:nvSpPr>
        <p:spPr>
          <a:xfrm>
            <a:off x="7422952" y="6451163"/>
            <a:ext cx="6487001" cy="6281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6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#FoodPhotography #CozyVibes #Homemade formatted for Twitter (280 chars)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9856" y="589240"/>
            <a:ext cx="6435685" cy="669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250"/>
              </a:lnSpc>
              <a:buNone/>
            </a:pPr>
            <a:r>
              <a:rPr lang="en-US" sz="420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Use Case: Travel Content</a:t>
            </a:r>
            <a:endParaRPr lang="en-US" sz="42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56" y="1789986"/>
            <a:ext cx="4255889" cy="567451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536049" y="3115628"/>
            <a:ext cx="2969895" cy="3348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10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Multi-Style Generation</a:t>
            </a:r>
            <a:endParaRPr lang="en-US" sz="2100" dirty="0"/>
          </a:p>
        </p:txBody>
      </p:sp>
      <p:sp>
        <p:nvSpPr>
          <p:cNvPr id="5" name="Text 2"/>
          <p:cNvSpPr/>
          <p:nvPr/>
        </p:nvSpPr>
        <p:spPr>
          <a:xfrm>
            <a:off x="5536049" y="3652838"/>
            <a:ext cx="8351996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Sunset beach photo detected with "peaceful" and "aesthetic" mood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5536049" y="4168378"/>
            <a:ext cx="8351996" cy="11418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Aesthetic: "Golden hour whispers stories only the ocean knows"</a:t>
            </a:r>
            <a:endParaRPr lang="en-US" sz="165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Punchy: "Sunset state of mind"</a:t>
            </a:r>
            <a:endParaRPr lang="en-US" sz="165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Casual: "Beach sunsets hit different"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5536049" y="5492353"/>
            <a:ext cx="8351996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Gemini-enhanced mode provides multiple variants with platform-optimized hashtags</a:t>
            </a:r>
            <a:endParaRPr lang="en-US" sz="1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04593"/>
            <a:ext cx="61658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Architecture Overview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667000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01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022044"/>
            <a:ext cx="4196358" cy="30480"/>
          </a:xfrm>
          <a:prstGeom prst="rect">
            <a:avLst/>
          </a:prstGeom>
          <a:solidFill>
            <a:srgbClr val="1C9770"/>
          </a:solidFill>
          <a:ln/>
        </p:spPr>
      </p:sp>
      <p:sp>
        <p:nvSpPr>
          <p:cNvPr id="5" name="Text 3"/>
          <p:cNvSpPr/>
          <p:nvPr/>
        </p:nvSpPr>
        <p:spPr>
          <a:xfrm>
            <a:off x="793790" y="319635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Frontend UI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93790" y="3686770"/>
            <a:ext cx="419635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Streamlit interface with image upload, style selection, platform targeting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5216962" y="2667000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02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5216962" y="3022044"/>
            <a:ext cx="4196358" cy="30480"/>
          </a:xfrm>
          <a:prstGeom prst="rect">
            <a:avLst/>
          </a:prstGeom>
          <a:solidFill>
            <a:srgbClr val="1C9770"/>
          </a:solidFill>
          <a:ln/>
        </p:spPr>
      </p:sp>
      <p:sp>
        <p:nvSpPr>
          <p:cNvPr id="9" name="Text 7"/>
          <p:cNvSpPr/>
          <p:nvPr/>
        </p:nvSpPr>
        <p:spPr>
          <a:xfrm>
            <a:off x="5216962" y="3196352"/>
            <a:ext cx="360116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Image Sentiment Detector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216962" y="3686770"/>
            <a:ext cx="419635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BLIP for scene understanding, DistilBERT for sentiment classification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9640133" y="2667000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9640133" y="3022044"/>
            <a:ext cx="4196358" cy="30480"/>
          </a:xfrm>
          <a:prstGeom prst="rect">
            <a:avLst/>
          </a:prstGeom>
          <a:solidFill>
            <a:srgbClr val="1C9770"/>
          </a:solidFill>
          <a:ln/>
        </p:spPr>
      </p:sp>
      <p:sp>
        <p:nvSpPr>
          <p:cNvPr id="13" name="Text 11"/>
          <p:cNvSpPr/>
          <p:nvPr/>
        </p:nvSpPr>
        <p:spPr>
          <a:xfrm>
            <a:off x="9640133" y="319635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Caption Generator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640133" y="3686770"/>
            <a:ext cx="419635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Style-based generation with casual, aesthetic, professional, playful options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793790" y="480941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04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793790" y="5164455"/>
            <a:ext cx="6407944" cy="30480"/>
          </a:xfrm>
          <a:prstGeom prst="rect">
            <a:avLst/>
          </a:prstGeom>
          <a:solidFill>
            <a:srgbClr val="1C9770"/>
          </a:solidFill>
          <a:ln/>
        </p:spPr>
      </p:sp>
      <p:sp>
        <p:nvSpPr>
          <p:cNvPr id="17" name="Text 15"/>
          <p:cNvSpPr/>
          <p:nvPr/>
        </p:nvSpPr>
        <p:spPr>
          <a:xfrm>
            <a:off x="793790" y="533876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Hashtag Engine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93790" y="5829181"/>
            <a:ext cx="640794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Trending 2024 hashtags by category and sentiment with priority selection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7428548" y="480941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05</a:t>
            </a:r>
            <a:endParaRPr lang="en-US" sz="1750" dirty="0"/>
          </a:p>
        </p:txBody>
      </p:sp>
      <p:sp>
        <p:nvSpPr>
          <p:cNvPr id="20" name="Shape 18"/>
          <p:cNvSpPr/>
          <p:nvPr/>
        </p:nvSpPr>
        <p:spPr>
          <a:xfrm>
            <a:off x="7428548" y="5164455"/>
            <a:ext cx="6407944" cy="30480"/>
          </a:xfrm>
          <a:prstGeom prst="rect">
            <a:avLst/>
          </a:prstGeom>
          <a:solidFill>
            <a:srgbClr val="1C9770"/>
          </a:solidFill>
          <a:ln/>
        </p:spPr>
      </p:sp>
      <p:sp>
        <p:nvSpPr>
          <p:cNvPr id="21" name="Text 19"/>
          <p:cNvSpPr/>
          <p:nvPr/>
        </p:nvSpPr>
        <p:spPr>
          <a:xfrm>
            <a:off x="7428548" y="533876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Character Limiter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428548" y="5829181"/>
            <a:ext cx="640794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Platform-optimized truncation preserving message integrity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078474"/>
            <a:ext cx="580298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Platform Comparison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3240881"/>
            <a:ext cx="4196358" cy="2910245"/>
          </a:xfrm>
          <a:prstGeom prst="roundRect">
            <a:avLst>
              <a:gd name="adj" fmla="val 1169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4270" y="3271361"/>
            <a:ext cx="4135398" cy="680442"/>
          </a:xfrm>
          <a:prstGeom prst="rect">
            <a:avLst/>
          </a:prstGeom>
          <a:solidFill>
            <a:srgbClr val="F2EEEE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21888" y="3441382"/>
            <a:ext cx="340162" cy="34016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51084" y="417861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Twitter/X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51084" y="4669036"/>
            <a:ext cx="368177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280 characters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1051084" y="5168027"/>
            <a:ext cx="368177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Prioritizes caption, intelligently truncates hashtags</a:t>
            </a:r>
            <a:endParaRPr lang="en-US" sz="1750" dirty="0"/>
          </a:p>
        </p:txBody>
      </p:sp>
      <p:sp>
        <p:nvSpPr>
          <p:cNvPr id="9" name="Shape 6"/>
          <p:cNvSpPr/>
          <p:nvPr/>
        </p:nvSpPr>
        <p:spPr>
          <a:xfrm>
            <a:off x="5216962" y="3240881"/>
            <a:ext cx="4196358" cy="2910245"/>
          </a:xfrm>
          <a:prstGeom prst="roundRect">
            <a:avLst>
              <a:gd name="adj" fmla="val 1169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247442" y="3271361"/>
            <a:ext cx="4135398" cy="680442"/>
          </a:xfrm>
          <a:prstGeom prst="rect">
            <a:avLst/>
          </a:prstGeom>
          <a:solidFill>
            <a:srgbClr val="F2EEEE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45060" y="3441382"/>
            <a:ext cx="340162" cy="34016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74256" y="417861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Instagram</a:t>
            </a:r>
            <a:endParaRPr lang="en-US" sz="2200" dirty="0"/>
          </a:p>
        </p:txBody>
      </p:sp>
      <p:sp>
        <p:nvSpPr>
          <p:cNvPr id="13" name="Text 9"/>
          <p:cNvSpPr/>
          <p:nvPr/>
        </p:nvSpPr>
        <p:spPr>
          <a:xfrm>
            <a:off x="5474256" y="4669036"/>
            <a:ext cx="368177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2,200 characters</a:t>
            </a:r>
            <a:endParaRPr lang="en-US" sz="1750" dirty="0"/>
          </a:p>
        </p:txBody>
      </p:sp>
      <p:sp>
        <p:nvSpPr>
          <p:cNvPr id="14" name="Text 10"/>
          <p:cNvSpPr/>
          <p:nvPr/>
        </p:nvSpPr>
        <p:spPr>
          <a:xfrm>
            <a:off x="5474256" y="5168027"/>
            <a:ext cx="368177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Rarely needs truncation, full content usually fits</a:t>
            </a:r>
            <a:endParaRPr lang="en-US" sz="1750" dirty="0"/>
          </a:p>
        </p:txBody>
      </p:sp>
      <p:sp>
        <p:nvSpPr>
          <p:cNvPr id="15" name="Shape 11"/>
          <p:cNvSpPr/>
          <p:nvPr/>
        </p:nvSpPr>
        <p:spPr>
          <a:xfrm>
            <a:off x="9640133" y="3240881"/>
            <a:ext cx="4196358" cy="2910245"/>
          </a:xfrm>
          <a:prstGeom prst="roundRect">
            <a:avLst>
              <a:gd name="adj" fmla="val 1169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9670613" y="3271361"/>
            <a:ext cx="4135398" cy="680442"/>
          </a:xfrm>
          <a:prstGeom prst="rect">
            <a:avLst/>
          </a:prstGeom>
          <a:solidFill>
            <a:srgbClr val="F2EEEE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568232" y="3441382"/>
            <a:ext cx="340162" cy="34016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897427" y="417861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Facebook</a:t>
            </a:r>
            <a:endParaRPr lang="en-US" sz="2200" dirty="0"/>
          </a:p>
        </p:txBody>
      </p:sp>
      <p:sp>
        <p:nvSpPr>
          <p:cNvPr id="19" name="Text 14"/>
          <p:cNvSpPr/>
          <p:nvPr/>
        </p:nvSpPr>
        <p:spPr>
          <a:xfrm>
            <a:off x="9897427" y="4669036"/>
            <a:ext cx="368177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63,206 characters</a:t>
            </a:r>
            <a:endParaRPr lang="en-US" sz="1750" dirty="0"/>
          </a:p>
        </p:txBody>
      </p:sp>
      <p:sp>
        <p:nvSpPr>
          <p:cNvPr id="20" name="Text 15"/>
          <p:cNvSpPr/>
          <p:nvPr/>
        </p:nvSpPr>
        <p:spPr>
          <a:xfrm>
            <a:off x="9897427" y="5168027"/>
            <a:ext cx="368177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Almost never needs character limiting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1518" y="632817"/>
            <a:ext cx="6051233" cy="6353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000"/>
              </a:lnSpc>
              <a:buNone/>
            </a:pPr>
            <a:r>
              <a:rPr lang="en-US" sz="400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Development Milestones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7303770" y="1632466"/>
            <a:ext cx="22860" cy="5964198"/>
          </a:xfrm>
          <a:prstGeom prst="roundRect">
            <a:avLst>
              <a:gd name="adj" fmla="val 133398"/>
            </a:avLst>
          </a:prstGeom>
          <a:solidFill>
            <a:srgbClr val="D8D4D4"/>
          </a:solidFill>
          <a:ln/>
        </p:spPr>
      </p:sp>
      <p:sp>
        <p:nvSpPr>
          <p:cNvPr id="4" name="Shape 2"/>
          <p:cNvSpPr/>
          <p:nvPr/>
        </p:nvSpPr>
        <p:spPr>
          <a:xfrm>
            <a:off x="6499562" y="1849636"/>
            <a:ext cx="609838" cy="22860"/>
          </a:xfrm>
          <a:prstGeom prst="roundRect">
            <a:avLst>
              <a:gd name="adj" fmla="val 133398"/>
            </a:avLst>
          </a:prstGeom>
          <a:solidFill>
            <a:srgbClr val="D8D4D4"/>
          </a:solidFill>
          <a:ln/>
        </p:spPr>
      </p:sp>
      <p:sp>
        <p:nvSpPr>
          <p:cNvPr id="5" name="Shape 3"/>
          <p:cNvSpPr/>
          <p:nvPr/>
        </p:nvSpPr>
        <p:spPr>
          <a:xfrm>
            <a:off x="7086540" y="1632466"/>
            <a:ext cx="457319" cy="457319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6" name="Text 4"/>
          <p:cNvSpPr/>
          <p:nvPr/>
        </p:nvSpPr>
        <p:spPr>
          <a:xfrm>
            <a:off x="7162681" y="1670506"/>
            <a:ext cx="304919" cy="3811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24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757613" y="1702237"/>
            <a:ext cx="254115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Milestone 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11518" y="2129076"/>
            <a:ext cx="5587246" cy="3082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Environment setup, dependencies, Gemini configuration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521000" y="3027045"/>
            <a:ext cx="609838" cy="22860"/>
          </a:xfrm>
          <a:prstGeom prst="roundRect">
            <a:avLst>
              <a:gd name="adj" fmla="val 133398"/>
            </a:avLst>
          </a:prstGeom>
          <a:solidFill>
            <a:srgbClr val="D8D4D4"/>
          </a:solidFill>
          <a:ln/>
        </p:spPr>
      </p:sp>
      <p:sp>
        <p:nvSpPr>
          <p:cNvPr id="10" name="Shape 8"/>
          <p:cNvSpPr/>
          <p:nvPr/>
        </p:nvSpPr>
        <p:spPr>
          <a:xfrm>
            <a:off x="7086540" y="2809875"/>
            <a:ext cx="457319" cy="457319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11" name="Text 9"/>
          <p:cNvSpPr/>
          <p:nvPr/>
        </p:nvSpPr>
        <p:spPr>
          <a:xfrm>
            <a:off x="7162681" y="2847915"/>
            <a:ext cx="304919" cy="3811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24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8331637" y="2879646"/>
            <a:ext cx="254115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Milestone 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331637" y="3306485"/>
            <a:ext cx="5587246" cy="6165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Core services: sentiment detector, caption generator, hashtag engine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499562" y="4057174"/>
            <a:ext cx="609838" cy="22860"/>
          </a:xfrm>
          <a:prstGeom prst="roundRect">
            <a:avLst>
              <a:gd name="adj" fmla="val 133398"/>
            </a:avLst>
          </a:prstGeom>
          <a:solidFill>
            <a:srgbClr val="D8D4D4"/>
          </a:solidFill>
          <a:ln/>
        </p:spPr>
      </p:sp>
      <p:sp>
        <p:nvSpPr>
          <p:cNvPr id="15" name="Shape 13"/>
          <p:cNvSpPr/>
          <p:nvPr/>
        </p:nvSpPr>
        <p:spPr>
          <a:xfrm>
            <a:off x="7086540" y="3840004"/>
            <a:ext cx="457319" cy="457319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16" name="Text 14"/>
          <p:cNvSpPr/>
          <p:nvPr/>
        </p:nvSpPr>
        <p:spPr>
          <a:xfrm>
            <a:off x="7162681" y="3878044"/>
            <a:ext cx="304919" cy="3811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24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3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3757613" y="3909774"/>
            <a:ext cx="254115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Milestone 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711518" y="4336613"/>
            <a:ext cx="5587246" cy="3082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Backend integration, session state, error handling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521000" y="5087422"/>
            <a:ext cx="609838" cy="22860"/>
          </a:xfrm>
          <a:prstGeom prst="roundRect">
            <a:avLst>
              <a:gd name="adj" fmla="val 133398"/>
            </a:avLst>
          </a:prstGeom>
          <a:solidFill>
            <a:srgbClr val="D8D4D4"/>
          </a:solidFill>
          <a:ln/>
        </p:spPr>
      </p:sp>
      <p:sp>
        <p:nvSpPr>
          <p:cNvPr id="20" name="Shape 18"/>
          <p:cNvSpPr/>
          <p:nvPr/>
        </p:nvSpPr>
        <p:spPr>
          <a:xfrm>
            <a:off x="7086540" y="4870252"/>
            <a:ext cx="457319" cy="457319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21" name="Text 19"/>
          <p:cNvSpPr/>
          <p:nvPr/>
        </p:nvSpPr>
        <p:spPr>
          <a:xfrm>
            <a:off x="7162681" y="4908292"/>
            <a:ext cx="304919" cy="3811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24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4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8331637" y="4940022"/>
            <a:ext cx="254115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Milestone 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8331637" y="5366861"/>
            <a:ext cx="5587246" cy="3082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UI development, responsive Streamlit interface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499562" y="6117669"/>
            <a:ext cx="609838" cy="22860"/>
          </a:xfrm>
          <a:prstGeom prst="roundRect">
            <a:avLst>
              <a:gd name="adj" fmla="val 133398"/>
            </a:avLst>
          </a:prstGeom>
          <a:solidFill>
            <a:srgbClr val="D8D4D4"/>
          </a:solidFill>
          <a:ln/>
        </p:spPr>
      </p:sp>
      <p:sp>
        <p:nvSpPr>
          <p:cNvPr id="25" name="Shape 23"/>
          <p:cNvSpPr/>
          <p:nvPr/>
        </p:nvSpPr>
        <p:spPr>
          <a:xfrm>
            <a:off x="7086540" y="5900499"/>
            <a:ext cx="457319" cy="457319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26" name="Text 24"/>
          <p:cNvSpPr/>
          <p:nvPr/>
        </p:nvSpPr>
        <p:spPr>
          <a:xfrm>
            <a:off x="7162681" y="5938540"/>
            <a:ext cx="304919" cy="3811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24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5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3757613" y="5970270"/>
            <a:ext cx="254115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Milestone 5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711518" y="6397109"/>
            <a:ext cx="5587246" cy="3082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Testing, optimization, deployment preparation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46359"/>
            <a:ext cx="602134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Future Enhancements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508766"/>
            <a:ext cx="6407944" cy="1306949"/>
          </a:xfrm>
          <a:prstGeom prst="roundRect">
            <a:avLst>
              <a:gd name="adj" fmla="val 2603"/>
            </a:avLst>
          </a:prstGeom>
          <a:solidFill>
            <a:srgbClr val="F2EEEE"/>
          </a:solidFill>
          <a:ln/>
        </p:spPr>
      </p:sp>
      <p:sp>
        <p:nvSpPr>
          <p:cNvPr id="4" name="Text 2"/>
          <p:cNvSpPr/>
          <p:nvPr/>
        </p:nvSpPr>
        <p:spPr>
          <a:xfrm>
            <a:off x="1020604" y="273558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Video Analysis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20604" y="3225998"/>
            <a:ext cx="59543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Support for video content processing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7428548" y="2508766"/>
            <a:ext cx="6408063" cy="1306949"/>
          </a:xfrm>
          <a:prstGeom prst="roundRect">
            <a:avLst>
              <a:gd name="adj" fmla="val 2603"/>
            </a:avLst>
          </a:prstGeom>
          <a:solidFill>
            <a:srgbClr val="F2EEEE"/>
          </a:solidFill>
          <a:ln/>
        </p:spPr>
      </p:sp>
      <p:sp>
        <p:nvSpPr>
          <p:cNvPr id="7" name="Text 5"/>
          <p:cNvSpPr/>
          <p:nvPr/>
        </p:nvSpPr>
        <p:spPr>
          <a:xfrm>
            <a:off x="7655362" y="273558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Multi-Language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655362" y="3225998"/>
            <a:ext cx="595443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Caption generation in multiple languages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793790" y="4042529"/>
            <a:ext cx="6407944" cy="1306949"/>
          </a:xfrm>
          <a:prstGeom prst="roundRect">
            <a:avLst>
              <a:gd name="adj" fmla="val 2603"/>
            </a:avLst>
          </a:prstGeom>
          <a:solidFill>
            <a:srgbClr val="F2EEEE"/>
          </a:solidFill>
          <a:ln/>
        </p:spPr>
      </p:sp>
      <p:sp>
        <p:nvSpPr>
          <p:cNvPr id="10" name="Text 8"/>
          <p:cNvSpPr/>
          <p:nvPr/>
        </p:nvSpPr>
        <p:spPr>
          <a:xfrm>
            <a:off x="1020604" y="426934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Analytics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20604" y="4759762"/>
            <a:ext cx="59543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Social media performance integration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7428548" y="4042529"/>
            <a:ext cx="6408063" cy="1306949"/>
          </a:xfrm>
          <a:prstGeom prst="roundRect">
            <a:avLst>
              <a:gd name="adj" fmla="val 2603"/>
            </a:avLst>
          </a:prstGeom>
          <a:solidFill>
            <a:srgbClr val="F2EEEE"/>
          </a:solidFill>
          <a:ln/>
        </p:spPr>
      </p:sp>
      <p:sp>
        <p:nvSpPr>
          <p:cNvPr id="13" name="Text 11"/>
          <p:cNvSpPr/>
          <p:nvPr/>
        </p:nvSpPr>
        <p:spPr>
          <a:xfrm>
            <a:off x="7655362" y="426934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Batch Processing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655362" y="4759762"/>
            <a:ext cx="595443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Multiple image handling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793790" y="5576292"/>
            <a:ext cx="6407944" cy="1306949"/>
          </a:xfrm>
          <a:prstGeom prst="roundRect">
            <a:avLst>
              <a:gd name="adj" fmla="val 2603"/>
            </a:avLst>
          </a:prstGeom>
          <a:solidFill>
            <a:srgbClr val="F2EEEE"/>
          </a:solidFill>
          <a:ln/>
        </p:spPr>
      </p:sp>
      <p:sp>
        <p:nvSpPr>
          <p:cNvPr id="16" name="Text 14"/>
          <p:cNvSpPr/>
          <p:nvPr/>
        </p:nvSpPr>
        <p:spPr>
          <a:xfrm>
            <a:off x="1020604" y="580310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Brand Voice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020604" y="6293525"/>
            <a:ext cx="59543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Custom style training</a:t>
            </a:r>
            <a:endParaRPr lang="en-US" sz="1750" dirty="0"/>
          </a:p>
        </p:txBody>
      </p:sp>
      <p:sp>
        <p:nvSpPr>
          <p:cNvPr id="18" name="Shape 16"/>
          <p:cNvSpPr/>
          <p:nvPr/>
        </p:nvSpPr>
        <p:spPr>
          <a:xfrm>
            <a:off x="7428548" y="5576292"/>
            <a:ext cx="6408063" cy="1306949"/>
          </a:xfrm>
          <a:prstGeom prst="roundRect">
            <a:avLst>
              <a:gd name="adj" fmla="val 2603"/>
            </a:avLst>
          </a:prstGeom>
          <a:solidFill>
            <a:srgbClr val="F2EEEE"/>
          </a:solidFill>
          <a:ln/>
        </p:spPr>
      </p:sp>
      <p:sp>
        <p:nvSpPr>
          <p:cNvPr id="19" name="Text 17"/>
          <p:cNvSpPr/>
          <p:nvPr/>
        </p:nvSpPr>
        <p:spPr>
          <a:xfrm>
            <a:off x="7655362" y="580310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Direct Posting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7655362" y="6293525"/>
            <a:ext cx="595443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Auto-publish to platforms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2026-03-11T06:02:06Z</dcterms:created>
  <dcterms:modified xsi:type="dcterms:W3CDTF">2026-03-11T06:02:06Z</dcterms:modified>
</cp:coreProperties>
</file>